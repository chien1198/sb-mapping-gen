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7" r:id="rId1"/>
  </p:sldMasterIdLst>
  <p:notesMasterIdLst>
    <p:notesMasterId r:id="rId33"/>
  </p:notesMasterIdLst>
  <p:handoutMasterIdLst>
    <p:handoutMasterId r:id="rId34"/>
  </p:handoutMasterIdLst>
  <p:sldIdLst>
    <p:sldId id="287" r:id="rId2"/>
    <p:sldId id="288" r:id="rId3"/>
    <p:sldId id="697" r:id="rId4"/>
    <p:sldId id="698" r:id="rId5"/>
    <p:sldId id="717" r:id="rId6"/>
    <p:sldId id="699" r:id="rId7"/>
    <p:sldId id="700" r:id="rId8"/>
    <p:sldId id="702" r:id="rId9"/>
    <p:sldId id="718" r:id="rId10"/>
    <p:sldId id="703" r:id="rId11"/>
    <p:sldId id="705" r:id="rId12"/>
    <p:sldId id="706" r:id="rId13"/>
    <p:sldId id="719" r:id="rId14"/>
    <p:sldId id="721" r:id="rId15"/>
    <p:sldId id="707" r:id="rId16"/>
    <p:sldId id="722" r:id="rId17"/>
    <p:sldId id="708" r:id="rId18"/>
    <p:sldId id="723" r:id="rId19"/>
    <p:sldId id="724" r:id="rId20"/>
    <p:sldId id="725" r:id="rId21"/>
    <p:sldId id="726" r:id="rId22"/>
    <p:sldId id="709" r:id="rId23"/>
    <p:sldId id="710" r:id="rId24"/>
    <p:sldId id="728" r:id="rId25"/>
    <p:sldId id="729" r:id="rId26"/>
    <p:sldId id="711" r:id="rId27"/>
    <p:sldId id="730" r:id="rId28"/>
    <p:sldId id="712" r:id="rId29"/>
    <p:sldId id="731" r:id="rId30"/>
    <p:sldId id="713" r:id="rId31"/>
    <p:sldId id="69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nh LV" initials="LL" lastIdx="3" clrIdx="0"/>
  <p:cmAuthor id="2" name="User" initials="U" lastIdx="4" clrIdx="1"/>
  <p:cmAuthor id="3" name="Admin" initials="A" lastIdx="1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823B"/>
    <a:srgbClr val="C00000"/>
    <a:srgbClr val="3C6EC8"/>
    <a:srgbClr val="F7F7F7"/>
    <a:srgbClr val="141ED2"/>
    <a:srgbClr val="000099"/>
    <a:srgbClr val="7BB41E"/>
    <a:srgbClr val="EB2D4B"/>
    <a:srgbClr val="336699"/>
    <a:srgbClr val="459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B75307-9800-CE47-982C-8AE7587765FA}" v="13" dt="2025-05-29T11:52:02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20" autoAdjust="0"/>
    <p:restoredTop sz="89525" autoAdjust="0"/>
  </p:normalViewPr>
  <p:slideViewPr>
    <p:cSldViewPr snapToGrid="0">
      <p:cViewPr varScale="1">
        <p:scale>
          <a:sx n="99" d="100"/>
          <a:sy n="99" d="100"/>
        </p:scale>
        <p:origin x="584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1896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EDB2C75E-3E7B-4859-A592-FF23A4AF1F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948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593A021-CD8B-40B1-9EEF-03DA2E30AAF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56661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43D7A1C8-49DA-44C4-8F90-334C5C536C54}" type="slidenum">
              <a:rPr lang="de-DE" smtClean="0"/>
              <a:pPr eaLnBrk="1" hangingPunct="1"/>
              <a:t>1</a:t>
            </a:fld>
            <a:endParaRPr lang="de-DE"/>
          </a:p>
        </p:txBody>
      </p:sp>
      <p:sp>
        <p:nvSpPr>
          <p:cNvPr id="3174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24" tIns="47416" rIns="94824" bIns="47416" anchor="b"/>
          <a:lstStyle>
            <a:lvl1pPr defTabSz="94773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4773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4773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4773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4773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477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EC77D827-7F6F-40F5-808F-F7C970689408}" type="slidenum">
              <a:rPr lang="en-GB" sz="1300"/>
              <a:pPr algn="r" eaLnBrk="1" hangingPunct="1"/>
              <a:t>1</a:t>
            </a:fld>
            <a:endParaRPr lang="en-GB" sz="1300"/>
          </a:p>
        </p:txBody>
      </p:sp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7588" cy="3430588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24" tIns="47416" rIns="94824" bIns="47416"/>
          <a:lstStyle/>
          <a:p>
            <a:pPr eaLnBrk="1" hangingPunct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5863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93A021-CD8B-40B1-9EEF-03DA2E30AAF4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6458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sz="1200" b="0">
                <a:solidFill>
                  <a:srgbClr val="333333"/>
                </a:solidFill>
                <a:latin typeface="Palatino Linotype"/>
              </a:rPr>
              <a:t>Chi tiết từng bước, từng luồng xử lý cụ thể tham khảo sơ đồ luồng riêng. =&gt; show workflow chi tiết CLOS/RLOS</a:t>
            </a:r>
            <a:br>
              <a:rPr lang="vi-VN" sz="1200" b="0">
                <a:solidFill>
                  <a:srgbClr val="333333"/>
                </a:solidFill>
                <a:latin typeface="Palatino Linotype"/>
              </a:rPr>
            </a:br>
            <a:r>
              <a:rPr lang="vi-VN" sz="1200" b="0">
                <a:solidFill>
                  <a:srgbClr val="333333"/>
                </a:solidFill>
                <a:latin typeface="Palatino Linotype"/>
              </a:rPr>
              <a:t>https://app.diagrams.net/#G1vTDAONMgMattr5-XL6A6EuIsOxM8lBlN#%7B%22pageId%22%3A%22FbilHZhXtezb1whvh7kj%22%7D</a:t>
            </a:r>
          </a:p>
          <a:p>
            <a:endParaRPr lang="vi-VN" sz="1200" b="0">
              <a:solidFill>
                <a:srgbClr val="333333"/>
              </a:solidFill>
              <a:latin typeface="Palatino Linotype"/>
            </a:endParaRPr>
          </a:p>
          <a:p>
            <a:endParaRPr lang="vi-VN" sz="1200" b="0">
              <a:solidFill>
                <a:srgbClr val="333333"/>
              </a:solidFill>
              <a:latin typeface="Palatino Linotype"/>
            </a:endParaRPr>
          </a:p>
          <a:p>
            <a:r>
              <a:rPr lang="vi-VN" sz="1200" b="0">
                <a:solidFill>
                  <a:srgbClr val="333333"/>
                </a:solidFill>
                <a:latin typeface="Palatino Linotype"/>
              </a:rPr>
              <a:t>bản chất nối sang dữ liệu T24 không có trong vòng đời</a:t>
            </a:r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93A021-CD8B-40B1-9EEF-03DA2E30AAF4}" type="slidenum">
              <a:rPr lang="de-DE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9043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/>
              <a:t>đánh giá thêm những bảng nghiệp vụ để đảm bảo việc tách các bảng dim, fact để phù hợp cho từng nghiệp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93A021-CD8B-40B1-9EEF-03DA2E30AAF4}" type="slidenum">
              <a:rPr lang="de-DE"/>
              <a:pPr>
                <a:defRPr/>
              </a:pPr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9702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vi-VN" sz="1400" b="0">
                <a:solidFill>
                  <a:srgbClr val="333333"/>
                </a:solidFill>
                <a:latin typeface="Palatino Linotype"/>
              </a:rPr>
              <a:t>DB nguồn (transactional) chỉ trả lời được "hồ sơ này đang ở đâu ngay bây giờ". Khi hồ sơ đi tiếp bước, bản ghi ở bước cũ bị xoá thật (Update = Delete+Insert) — không còn cách nào truy vấn ngược lại quá khứ</a:t>
            </a:r>
          </a:p>
          <a:p>
            <a:pPr>
              <a:spcAft>
                <a:spcPts val="600"/>
              </a:spcAft>
            </a:pPr>
            <a:r>
              <a:rPr lang="vi-VN" sz="1400" b="0">
                <a:solidFill>
                  <a:srgbClr val="333333"/>
                </a:solidFill>
                <a:latin typeface="Palatino Linotype"/>
              </a:rPr>
              <a:t>•  FCT_PDTD_APPLICATION_DAILY chủ động chụp và lưu 1 dòng cho mỗi hồ sơ vào cuối mỗi DAYID, theo 2 lý do sinh dòng:</a:t>
            </a:r>
          </a:p>
          <a:p>
            <a:pPr lvl="1">
              <a:spcAft>
                <a:spcPts val="600"/>
              </a:spcAft>
            </a:pPr>
            <a:r>
              <a:rPr lang="vi-VN" sz="1300" b="0">
                <a:solidFill>
                  <a:srgbClr val="333333"/>
                </a:solidFill>
                <a:latin typeface="Palatino Linotype"/>
              </a:rPr>
              <a:t>-  Có phát sinh xử lý trong ngày (HAS_ACTION_IN_DAY='Y') — điều kiện phạm vi cho BC1, BC2</a:t>
            </a:r>
          </a:p>
          <a:p>
            <a:pPr lvl="1">
              <a:spcAft>
                <a:spcPts val="600"/>
              </a:spcAft>
            </a:pPr>
            <a:r>
              <a:rPr lang="vi-VN" sz="1300" b="0">
                <a:solidFill>
                  <a:srgbClr val="333333"/>
                </a:solidFill>
                <a:latin typeface="Palatino Linotype"/>
              </a:rPr>
              <a:t>-  Hồ sơ đang trong chu kỳ thẩm định chưa chốt — duy trì tập tồn đọng phục vụ BC4</a:t>
            </a:r>
          </a:p>
          <a:p>
            <a:pPr>
              <a:spcAft>
                <a:spcPts val="600"/>
              </a:spcAft>
            </a:pPr>
            <a:r>
              <a:rPr lang="vi-VN" sz="1400" b="0">
                <a:solidFill>
                  <a:srgbClr val="333333"/>
                </a:solidFill>
                <a:latin typeface="Palatino Linotype"/>
              </a:rPr>
              <a:t>•  Đánh đổi: dung lượng phình theo (số ngày × số hồ sơ) — cần chiến lược partition theo DAYID và archive/purge dữ liệu cũ</a:t>
            </a:r>
          </a:p>
          <a:p>
            <a:pPr>
              <a:spcAft>
                <a:spcPts val="600"/>
              </a:spcAft>
            </a:pPr>
            <a:endParaRPr lang="vi-VN" sz="1400" b="0">
              <a:solidFill>
                <a:srgbClr val="333333"/>
              </a:solidFill>
              <a:latin typeface="Palatino Linotype"/>
            </a:endParaRPr>
          </a:p>
          <a:p>
            <a:pPr>
              <a:spcAft>
                <a:spcPts val="600"/>
              </a:spcAft>
            </a:pPr>
            <a:r>
              <a:rPr lang="vi-VN" sz="1400" b="0">
                <a:solidFill>
                  <a:srgbClr val="333333"/>
                </a:solidFill>
                <a:latin typeface="Palatino Linotype"/>
              </a:rPr>
              <a:t>: đánh giá việc bổ sung thêm 1 trường key nối các trường với bảng có nhiều key =&gt; làm 1 trường phân biệt theo |</a:t>
            </a:r>
          </a:p>
          <a:p>
            <a:pPr>
              <a:spcAft>
                <a:spcPts val="600"/>
              </a:spcAft>
            </a:pPr>
            <a:r>
              <a:rPr lang="vi-VN" sz="1400" b="0">
                <a:solidFill>
                  <a:srgbClr val="333333"/>
                </a:solidFill>
                <a:latin typeface="Palatino Linotype"/>
              </a:rPr>
              <a:t>- tên bám sát theo nguồn</a:t>
            </a:r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93A021-CD8B-40B1-9EEF-03DA2E30AAF4}" type="slidenum">
              <a:rPr lang="de-DE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2932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93A021-CD8B-40B1-9EEF-03DA2E30AAF4}" type="slidenum">
              <a:rPr lang="de-DE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3937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/>
              <a:t>thiết kế dư thừa đầy đủ thông tin nguồn lên SB_DWH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593A021-CD8B-40B1-9EEF-03DA2E30AAF4}" type="slidenum">
              <a:rPr lang="de-DE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170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13653" y="638585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AutoShape 2" descr="Outlook">
            <a:extLst>
              <a:ext uri="{FF2B5EF4-FFF2-40B4-BE49-F238E27FC236}">
                <a16:creationId xmlns:a16="http://schemas.microsoft.com/office/drawing/2014/main" id="{F95815DA-0D72-41DD-BF2C-4BBC9879DBDD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4" descr="Outlook">
            <a:extLst>
              <a:ext uri="{FF2B5EF4-FFF2-40B4-BE49-F238E27FC236}">
                <a16:creationId xmlns:a16="http://schemas.microsoft.com/office/drawing/2014/main" id="{D5F6EC4B-3BE8-49CE-AB07-B2BAC7CB207F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07975" y="7937"/>
            <a:ext cx="1675570" cy="167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8853" y="635821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4009348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08953" y="64039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153" y="64039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3372558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13653" y="642669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98853" y="642669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318641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8959" y="637042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64159" y="637042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104087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13959" y="642986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99159" y="642986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57988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93053" y="642805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8253" y="642805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2106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08953" y="64039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94153" y="64039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3990862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9259" y="639582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56379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94459" y="639084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kern="1200">
                <a:solidFill>
                  <a:srgbClr val="56379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7998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08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1drv.ms/w/c/093602c13b2d516d/IQB4PO0wddHSQrQoby8TjfpVAeAY1kANSEzlB0kh6-XHV08?e=DhEwqJ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964552"/>
            <a:ext cx="12191999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600" b="1" kern="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  <a:ea typeface="+mj-ea"/>
                <a:cs typeface="+mj-cs"/>
              </a:rPr>
              <a:t>TRÌNH BÀY THIẾT KẾ</a:t>
            </a:r>
            <a:endParaRPr lang="en-US" sz="4600" b="1" kern="0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2414" y="5019776"/>
            <a:ext cx="1036920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kern="0" dirty="0">
                <a:solidFill>
                  <a:srgbClr val="7030A0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</a:rPr>
              <a:t>09/09/2026</a:t>
            </a:r>
            <a:endParaRPr lang="en-US" sz="2400" b="1" kern="0" dirty="0">
              <a:solidFill>
                <a:srgbClr val="7030A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47C9D-C96D-49B3-A3FE-6A615ABE1EAD}"/>
              </a:ext>
            </a:extLst>
          </p:cNvPr>
          <p:cNvSpPr/>
          <p:nvPr/>
        </p:nvSpPr>
        <p:spPr>
          <a:xfrm>
            <a:off x="474562" y="2488557"/>
            <a:ext cx="10857053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1200"/>
              </a:spcBef>
              <a:spcAft>
                <a:spcPts val="1200"/>
              </a:spcAft>
              <a:defRPr/>
            </a:pPr>
            <a:r>
              <a:rPr lang="vi-VN" sz="3000" b="1" kern="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  <a:ea typeface="+mj-ea"/>
                <a:cs typeface="+mj-cs"/>
              </a:rPr>
              <a:t>SEABANK - XÂY DỰNG HỆ THỐNG DATAMART </a:t>
            </a:r>
          </a:p>
          <a:p>
            <a:pPr algn="ctr" fontAlgn="auto">
              <a:spcBef>
                <a:spcPts val="1200"/>
              </a:spcBef>
              <a:spcAft>
                <a:spcPts val="1200"/>
              </a:spcAft>
              <a:defRPr/>
            </a:pPr>
            <a:r>
              <a:rPr lang="vi-VN" sz="3000" b="1" kern="0" dirty="0">
                <a:solidFill>
                  <a:schemeClr val="bg1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Palatino Linotype"/>
                <a:ea typeface="+mj-ea"/>
                <a:cs typeface="+mj-cs"/>
              </a:rPr>
              <a:t>CHO KHỐI PHÊ DUYỆT TÍN DỤNG</a:t>
            </a:r>
            <a:endParaRPr lang="en-US" sz="3000" b="1" kern="0" dirty="0">
              <a:solidFill>
                <a:schemeClr val="bg1"/>
              </a:solidFill>
              <a:effectLst>
                <a:outerShdw blurRad="63500" dist="38100" dir="5400000" algn="t" rotWithShape="0">
                  <a:prstClr val="black">
                    <a:alpha val="25000"/>
                  </a:prstClr>
                </a:outerShdw>
              </a:effectLst>
              <a:latin typeface="Palatino Linotype"/>
              <a:ea typeface="+mj-ea"/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434113-13A0-4F93-866E-765204A491E8}"/>
              </a:ext>
            </a:extLst>
          </p:cNvPr>
          <p:cNvSpPr/>
          <p:nvPr/>
        </p:nvSpPr>
        <p:spPr>
          <a:xfrm>
            <a:off x="4306898" y="262766"/>
            <a:ext cx="35782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b="1" kern="0" dirty="0">
                <a:solidFill>
                  <a:srgbClr val="58911F"/>
                </a:solidFill>
                <a:latin typeface="Palatino Linotype"/>
                <a:ea typeface="+mj-ea"/>
                <a:cs typeface="+mj-cs"/>
              </a:rPr>
              <a:t>NỘI DUNG CHÍNH</a:t>
            </a:r>
          </a:p>
        </p:txBody>
      </p:sp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712117" y="1328420"/>
            <a:ext cx="9940036" cy="3744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0">
                <a:solidFill>
                  <a:srgbClr val="333333"/>
                </a:solidFill>
                <a:latin typeface="Palatino Linotype"/>
              </a:rPr>
              <a:t>1. Mục tiêu</a:t>
            </a:r>
            <a:r>
              <a:rPr lang="vi-VN" sz="2400" b="0">
                <a:solidFill>
                  <a:srgbClr val="333333"/>
                </a:solidFill>
                <a:latin typeface="Palatino Linotype"/>
              </a:rPr>
              <a:t> của</a:t>
            </a:r>
            <a:r>
              <a:rPr sz="2400" b="0">
                <a:solidFill>
                  <a:srgbClr val="333333"/>
                </a:solidFill>
                <a:latin typeface="Palatino Linotype"/>
              </a:rPr>
              <a:t> buổi review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0">
                <a:solidFill>
                  <a:srgbClr val="333333"/>
                </a:solidFill>
                <a:latin typeface="Palatino Linotype"/>
              </a:rPr>
              <a:t>2. Giới thiệu về nghiệp vụ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0">
                <a:solidFill>
                  <a:srgbClr val="333333"/>
                </a:solidFill>
                <a:latin typeface="Palatino Linotype"/>
              </a:rPr>
              <a:t>3. </a:t>
            </a:r>
            <a:r>
              <a:rPr lang="vi-VN" sz="2400" b="0">
                <a:solidFill>
                  <a:srgbClr val="333333"/>
                </a:solidFill>
                <a:latin typeface="Palatino Linotype"/>
              </a:rPr>
              <a:t>Cơ </a:t>
            </a:r>
            <a:r>
              <a:rPr sz="2400" b="0">
                <a:solidFill>
                  <a:srgbClr val="333333"/>
                </a:solidFill>
                <a:latin typeface="Palatino Linotype"/>
              </a:rPr>
              <a:t>chế ghi từ </a:t>
            </a:r>
            <a:r>
              <a:rPr lang="vi-VN" sz="2400" b="0">
                <a:solidFill>
                  <a:srgbClr val="333333"/>
                </a:solidFill>
                <a:latin typeface="Palatino Linotype"/>
              </a:rPr>
              <a:t>ứng dụng LOS</a:t>
            </a:r>
            <a:r>
              <a:rPr sz="2400" b="0">
                <a:solidFill>
                  <a:srgbClr val="333333"/>
                </a:solidFill>
                <a:latin typeface="Palatino Linotype"/>
              </a:rPr>
              <a:t> xuống Database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0">
                <a:solidFill>
                  <a:srgbClr val="333333"/>
                </a:solidFill>
                <a:latin typeface="Palatino Linotype"/>
              </a:rPr>
              <a:t>4. Tìm hiểu về thiết kế hiện tại trên SB_DWH (D</a:t>
            </a:r>
            <a:r>
              <a:rPr lang="en-US" sz="2400" b="0">
                <a:solidFill>
                  <a:srgbClr val="333333"/>
                </a:solidFill>
                <a:latin typeface="Palatino Linotype"/>
              </a:rPr>
              <a:t>IM</a:t>
            </a:r>
            <a:r>
              <a:rPr sz="2400" b="0">
                <a:solidFill>
                  <a:srgbClr val="333333"/>
                </a:solidFill>
                <a:latin typeface="Palatino Linotype"/>
              </a:rPr>
              <a:t>/FACT)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0">
                <a:solidFill>
                  <a:srgbClr val="333333"/>
                </a:solidFill>
                <a:latin typeface="Palatino Linotype"/>
              </a:rPr>
              <a:t>5. Trình bày ý tưởng thiết kế</a:t>
            </a:r>
            <a:endParaRPr lang="vi-VN" sz="2400" b="0">
              <a:solidFill>
                <a:srgbClr val="333333"/>
              </a:solidFill>
              <a:latin typeface="Palatino Linotype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400" b="0">
                <a:solidFill>
                  <a:srgbClr val="333333"/>
                </a:solidFill>
                <a:latin typeface="Palatino Linotype"/>
              </a:rPr>
              <a:t>6. Thiết kế database chi tiết từng bảng</a:t>
            </a:r>
          </a:p>
        </p:txBody>
      </p:sp>
    </p:spTree>
    <p:extLst>
      <p:ext uri="{BB962C8B-B14F-4D97-AF65-F5344CB8AC3E}">
        <p14:creationId xmlns:p14="http://schemas.microsoft.com/office/powerpoint/2010/main" val="34436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1. MỤC TIÊU </a:t>
            </a:r>
            <a:r>
              <a:rPr lang="vi-VN" sz="2400" b="1">
                <a:solidFill>
                  <a:srgbClr val="58911F"/>
                </a:solidFill>
                <a:latin typeface="Palatino Linotype"/>
              </a:rPr>
              <a:t>CỦA </a:t>
            </a:r>
            <a:r>
              <a:rPr sz="2400" b="1">
                <a:solidFill>
                  <a:srgbClr val="58911F"/>
                </a:solidFill>
                <a:latin typeface="Palatino Linotype"/>
              </a:rPr>
              <a:t>BUỔI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7168" y="1102360"/>
            <a:ext cx="10174732" cy="3241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Giới thiệu thiết kế datamart PDTD hiện tại (LOS → SB_DWH → PDTD_DTM) tới các chuyên gia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 phía </a:t>
            </a:r>
            <a:r>
              <a:rPr sz="2200" b="0">
                <a:solidFill>
                  <a:srgbClr val="333333"/>
                </a:solidFill>
                <a:latin typeface="Palatino Linotype"/>
              </a:rPr>
              <a:t>đối tác review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.</a:t>
            </a:r>
            <a:endParaRPr sz="2200" b="0">
              <a:solidFill>
                <a:srgbClr val="333333"/>
              </a:solidFill>
              <a:latin typeface="Palatino Linotype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Tiếp nhận góp ý về mức độ phù hợp của thiết kế với hệ thống hiện tại và các điểm cần điều chỉnh (nếu có)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.</a:t>
            </a:r>
            <a:endParaRPr sz="2200" b="0">
              <a:solidFill>
                <a:srgbClr val="333333"/>
              </a:solidFill>
              <a:latin typeface="Palatino Linotype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Thống nhất 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phương án thiết kế </a:t>
            </a:r>
            <a:r>
              <a:rPr sz="2200" b="0">
                <a:solidFill>
                  <a:srgbClr val="333333"/>
                </a:solidFill>
                <a:latin typeface="Palatino Linotype"/>
              </a:rPr>
              <a:t>để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 làm tiền đề</a:t>
            </a:r>
            <a:r>
              <a:rPr sz="2200" b="0">
                <a:solidFill>
                  <a:srgbClr val="333333"/>
                </a:solidFill>
                <a:latin typeface="Palatino Linotype"/>
              </a:rPr>
              <a:t> chuyển sang giai đoạn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 tiếp theo</a:t>
            </a:r>
            <a:r>
              <a:rPr sz="2200" b="0">
                <a:solidFill>
                  <a:srgbClr val="333333"/>
                </a:solidFill>
                <a:latin typeface="Palatino Linotype"/>
              </a:rPr>
              <a:t> </a:t>
            </a:r>
            <a:r>
              <a:rPr lang="vi-VN" sz="2200">
                <a:solidFill>
                  <a:srgbClr val="333333"/>
                </a:solidFill>
                <a:latin typeface="Palatino Linotype"/>
              </a:rPr>
              <a:t>- </a:t>
            </a:r>
            <a:r>
              <a:rPr sz="2200" b="0">
                <a:solidFill>
                  <a:srgbClr val="333333"/>
                </a:solidFill>
                <a:latin typeface="Palatino Linotype"/>
              </a:rPr>
              <a:t>phát triển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.</a:t>
            </a:r>
            <a:endParaRPr sz="2200" b="0">
              <a:solidFill>
                <a:srgbClr val="333333"/>
              </a:solidFill>
              <a:latin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2. GIỚI THIỆU VỀ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146536" cy="326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Hiện trạng</a:t>
            </a:r>
            <a:endParaRPr sz="2300" b="1">
              <a:solidFill>
                <a:srgbClr val="333333"/>
              </a:solidFill>
              <a:latin typeface="Palatino Linotype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Khối PDTD (Phê Duyệt Tín Dụng) cần 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xây dựng bộ </a:t>
            </a:r>
            <a:r>
              <a:rPr sz="2200" b="0">
                <a:solidFill>
                  <a:srgbClr val="333333"/>
                </a:solidFill>
                <a:latin typeface="Palatino Linotype"/>
              </a:rPr>
              <a:t>báo cáo vận hành/KPI cho hồ sơ tín dụng chạy trên 2 hệ nguồn song song: CLOS (khách hàng doanh nghiệp/tổ chức) và RLOS (khách hàng cá nhân)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.</a:t>
            </a:r>
            <a:endParaRPr sz="2200" b="0">
              <a:solidFill>
                <a:srgbClr val="333333"/>
              </a:solidFill>
              <a:latin typeface="Palatino Linotype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Hai hệ dùng chung 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1 quy trình xử lý nghiệp vụ</a:t>
            </a:r>
            <a:r>
              <a:rPr sz="2200" b="0">
                <a:solidFill>
                  <a:srgbClr val="333333"/>
                </a:solidFill>
                <a:latin typeface="Palatino Linotype"/>
              </a:rPr>
              <a:t> nhưng khác bộ trường, khác cách đặt tên bước xử lý</a:t>
            </a:r>
            <a:r>
              <a:rPr lang="vi-VN" sz="2200" b="0">
                <a:solidFill>
                  <a:srgbClr val="333333"/>
                </a:solidFill>
                <a:latin typeface="Palatino Linotype"/>
              </a:rPr>
              <a:t>.</a:t>
            </a:r>
            <a:endParaRPr sz="2200" b="0">
              <a:solidFill>
                <a:srgbClr val="333333"/>
              </a:solidFill>
              <a:latin typeface="Palatino Linoty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603D3-EDAB-14E7-9F8B-915CB5CC3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4AA98-3C2B-40C8-8365-F6396E113A5C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2. GIỚI THIỆU VỀ NGHIỆP VỤ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A4452-119D-F225-A519-3B0DF88F8D8C}"/>
              </a:ext>
            </a:extLst>
          </p:cNvPr>
          <p:cNvSpPr txBox="1"/>
          <p:nvPr/>
        </p:nvSpPr>
        <p:spPr>
          <a:xfrm>
            <a:off x="457200" y="881155"/>
            <a:ext cx="11146536" cy="509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Phục vụ trả lời</a:t>
            </a:r>
            <a:r>
              <a:rPr sz="2300" b="1">
                <a:solidFill>
                  <a:srgbClr val="333333"/>
                </a:solidFill>
                <a:latin typeface="Palatino Linotype"/>
              </a:rPr>
              <a:t> nhóm câu hỏi </a:t>
            </a:r>
            <a:r>
              <a:rPr lang="vi-VN" sz="2300" b="1">
                <a:solidFill>
                  <a:srgbClr val="333333"/>
                </a:solidFill>
                <a:latin typeface="Palatino Linotype"/>
              </a:rPr>
              <a:t>nghiệp vụ</a:t>
            </a:r>
            <a:endParaRPr sz="2300" b="1">
              <a:solidFill>
                <a:srgbClr val="333333"/>
              </a:solidFill>
              <a:latin typeface="Palatino Linotype"/>
            </a:endParaRP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Hồ sơ đang ở đâu, tồn đọng bao lâu, ai đang xử lý, thông tin khách hàng/người liên quan là gì? (BC1, BC2, BC4)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Hồ sơ được phê duyệt (đồng ý/từ chối) với kết quả, hạn mức, tài sản bảo đảm như thế nào? (BC3)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Có bao nhiêu ngoại lệ chính sách, hồ sơ bị trả về bao nhiêu lần? (BC6, BC7, BC8)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SLA từng bước có đạt cam kết không? (BC5)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Các chỉ tiêu KPI của Khối PDTD đạt được ra sao? (BC9)</a:t>
            </a:r>
          </a:p>
          <a:p>
            <a:pPr marL="800100" lvl="1" indent="-3429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2200" b="0">
                <a:solidFill>
                  <a:srgbClr val="333333"/>
                </a:solidFill>
                <a:latin typeface="Palatino Linotype"/>
              </a:rPr>
              <a:t>Hồ sơ sau phê duyệt có thực sự giải ngân, dư nợ ra sao? (BC10, BC11)</a:t>
            </a:r>
          </a:p>
        </p:txBody>
      </p:sp>
    </p:spTree>
    <p:extLst>
      <p:ext uri="{BB962C8B-B14F-4D97-AF65-F5344CB8AC3E}">
        <p14:creationId xmlns:p14="http://schemas.microsoft.com/office/powerpoint/2010/main" val="2021446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2. GIỚI THIỆU VỀ NGHIỆP VỤ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418" y="922020"/>
            <a:ext cx="10960100" cy="470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latin typeface="Palatino Linotype"/>
              </a:rPr>
              <a:t>Vòng đời một hồ sơ tín dụng — 4 bước chính</a:t>
            </a:r>
            <a:endParaRPr lang="en-VN" sz="1600" b="1">
              <a:solidFill>
                <a:srgbClr val="333333"/>
              </a:solidFill>
              <a:latin typeface="Palatino Linotype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2000" b="1">
                <a:solidFill>
                  <a:srgbClr val="333333"/>
                </a:solidFill>
                <a:latin typeface="Palatino Linotype"/>
              </a:rPr>
              <a:t>B1 — ĐVKD / Cụm HTTD / Vận hành tỉnh</a:t>
            </a:r>
            <a:r>
              <a:rPr lang="vi-VN" sz="2000" b="1">
                <a:solidFill>
                  <a:srgbClr val="333333"/>
                </a:solidFill>
                <a:latin typeface="Palatino Linotype"/>
              </a:rPr>
              <a:t> </a:t>
            </a:r>
          </a:p>
          <a:p>
            <a:pPr lvl="3">
              <a:lnSpc>
                <a:spcPct val="150000"/>
              </a:lnSpc>
              <a:spcAft>
                <a:spcPts val="600"/>
              </a:spcAft>
            </a:pPr>
            <a:r>
              <a:rPr lang="vi-VN" sz="2000" b="0">
                <a:solidFill>
                  <a:srgbClr val="333333"/>
                </a:solidFill>
                <a:latin typeface="Palatino Linotype"/>
              </a:rPr>
              <a:t>	</a:t>
            </a:r>
            <a:r>
              <a:rPr sz="2000" b="0">
                <a:solidFill>
                  <a:srgbClr val="333333"/>
                </a:solidFill>
                <a:latin typeface="Palatino Linotype"/>
              </a:rPr>
              <a:t>-  Khởi tạo và nhập liệu hồ sơ tại đơn vị kinh doanh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2000" b="1">
                <a:solidFill>
                  <a:srgbClr val="333333"/>
                </a:solidFill>
                <a:latin typeface="Palatino Linotype"/>
              </a:rPr>
              <a:t>B2 — Phê duyệt tín dụng</a:t>
            </a:r>
            <a:r>
              <a:rPr lang="vi-VN" sz="2000" b="1">
                <a:solidFill>
                  <a:srgbClr val="333333"/>
                </a:solidFill>
                <a:latin typeface="Palatino Linotype"/>
              </a:rPr>
              <a:t> </a:t>
            </a:r>
          </a:p>
          <a:p>
            <a:pPr lvl="3">
              <a:lnSpc>
                <a:spcPct val="150000"/>
              </a:lnSpc>
              <a:spcAft>
                <a:spcPts val="600"/>
              </a:spcAft>
            </a:pPr>
            <a:r>
              <a:rPr lang="vi-VN" sz="2000" b="0">
                <a:solidFill>
                  <a:srgbClr val="333333"/>
                </a:solidFill>
                <a:latin typeface="Palatino Linotype"/>
              </a:rPr>
              <a:t>	</a:t>
            </a:r>
            <a:r>
              <a:rPr sz="2000" b="0">
                <a:solidFill>
                  <a:srgbClr val="333333"/>
                </a:solidFill>
                <a:latin typeface="Palatino Linotype"/>
              </a:rPr>
              <a:t>-  Thẩm định và ra quyết định phê duyệt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2000" b="1">
                <a:solidFill>
                  <a:srgbClr val="333333"/>
                </a:solidFill>
                <a:latin typeface="Palatino Linotype"/>
              </a:rPr>
              <a:t>B3 — Xử lý tín dụng</a:t>
            </a:r>
            <a:r>
              <a:rPr lang="vi-VN" sz="2000" b="1">
                <a:solidFill>
                  <a:srgbClr val="333333"/>
                </a:solidFill>
                <a:latin typeface="Palatino Linotype"/>
              </a:rPr>
              <a:t> </a:t>
            </a:r>
          </a:p>
          <a:p>
            <a:pPr lvl="3">
              <a:lnSpc>
                <a:spcPct val="150000"/>
              </a:lnSpc>
              <a:spcAft>
                <a:spcPts val="600"/>
              </a:spcAft>
            </a:pPr>
            <a:r>
              <a:rPr lang="vi-VN" sz="2000" b="0">
                <a:solidFill>
                  <a:srgbClr val="333333"/>
                </a:solidFill>
                <a:latin typeface="Palatino Linotype"/>
              </a:rPr>
              <a:t>	</a:t>
            </a:r>
            <a:r>
              <a:rPr sz="2000" b="0">
                <a:solidFill>
                  <a:srgbClr val="333333"/>
                </a:solidFill>
                <a:latin typeface="Palatino Linotype"/>
              </a:rPr>
              <a:t>-  Hoàn thiện hồ sơ, giải ngân</a:t>
            </a: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sz="2000" b="1">
                <a:solidFill>
                  <a:srgbClr val="333333"/>
                </a:solidFill>
                <a:latin typeface="Palatino Linotype"/>
              </a:rPr>
              <a:t>B4 — Giám sát sau giải ngân</a:t>
            </a:r>
            <a:r>
              <a:rPr lang="vi-VN" sz="2000" b="1">
                <a:solidFill>
                  <a:srgbClr val="333333"/>
                </a:solidFill>
                <a:latin typeface="Palatino Linotype"/>
              </a:rPr>
              <a:t> </a:t>
            </a:r>
          </a:p>
          <a:p>
            <a:pPr lvl="3">
              <a:lnSpc>
                <a:spcPct val="150000"/>
              </a:lnSpc>
              <a:spcAft>
                <a:spcPts val="600"/>
              </a:spcAft>
            </a:pPr>
            <a:r>
              <a:rPr lang="vi-VN" sz="2000" b="0">
                <a:solidFill>
                  <a:srgbClr val="333333"/>
                </a:solidFill>
                <a:latin typeface="Palatino Linotype"/>
              </a:rPr>
              <a:t>	</a:t>
            </a:r>
            <a:r>
              <a:rPr sz="2000" b="0">
                <a:solidFill>
                  <a:srgbClr val="333333"/>
                </a:solidFill>
                <a:latin typeface="Palatino Linotype"/>
              </a:rPr>
              <a:t>-  Theo dõi khoản vay sau khi đã giải ngân, nối sang dữ liệu T24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3. CƠ CHẾ GHI </a:t>
            </a:r>
            <a:r>
              <a:rPr lang="vi-VN" sz="2400" b="1">
                <a:solidFill>
                  <a:srgbClr val="58911F"/>
                </a:solidFill>
                <a:latin typeface="Palatino Linotype"/>
              </a:rPr>
              <a:t>DỮ LIỆU </a:t>
            </a:r>
            <a:r>
              <a:rPr sz="2400" b="1">
                <a:solidFill>
                  <a:srgbClr val="58911F"/>
                </a:solidFill>
                <a:latin typeface="Palatino Linotype"/>
              </a:rPr>
              <a:t>TỪ APP </a:t>
            </a:r>
            <a:r>
              <a:rPr lang="vi-VN" sz="2400" b="1">
                <a:solidFill>
                  <a:srgbClr val="58911F"/>
                </a:solidFill>
                <a:latin typeface="Palatino Linotype"/>
              </a:rPr>
              <a:t>LOS </a:t>
            </a:r>
            <a:r>
              <a:rPr sz="2400" b="1">
                <a:solidFill>
                  <a:srgbClr val="58911F"/>
                </a:solidFill>
                <a:latin typeface="Palatino Linotype"/>
              </a:rPr>
              <a:t>XUỐNG DATABASE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139582"/>
              </p:ext>
            </p:extLst>
          </p:nvPr>
        </p:nvGraphicFramePr>
        <p:xfrm>
          <a:off x="1104901" y="1196340"/>
          <a:ext cx="101981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9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58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Palatino Linotype"/>
                        </a:rPr>
                        <a:t>Thao tác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1">
                          <a:solidFill>
                            <a:srgbClr val="FFFFFF"/>
                          </a:solidFill>
                          <a:latin typeface="Palatino Linotype"/>
                        </a:rPr>
                        <a:t>Cơ chế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33333"/>
                          </a:solidFill>
                          <a:latin typeface="Palatino Linotype"/>
                        </a:rPr>
                        <a:t>Insert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33333"/>
                          </a:solidFill>
                          <a:latin typeface="Palatino Linotype"/>
                        </a:rPr>
                        <a:t>Ghi bản ghi mới vào database khi có phát sinh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33333"/>
                          </a:solidFill>
                          <a:latin typeface="Palatino Linotype"/>
                        </a:rPr>
                        <a:t>Update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2200">
                          <a:solidFill>
                            <a:srgbClr val="333333"/>
                          </a:solidFill>
                          <a:latin typeface="Palatino Linotype"/>
                        </a:rPr>
                        <a:t>Gồm </a:t>
                      </a:r>
                      <a:r>
                        <a:rPr sz="2200">
                          <a:solidFill>
                            <a:srgbClr val="333333"/>
                          </a:solidFill>
                          <a:latin typeface="Palatino Linotype"/>
                        </a:rPr>
                        <a:t>2 bước: </a:t>
                      </a:r>
                      <a:endParaRPr lang="vi-VN" sz="22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  <a:p>
                      <a:pPr marL="571500" indent="-342900">
                        <a:buFont typeface="Wingdings" pitchFamily="2" charset="2"/>
                        <a:buChar char="§"/>
                        <a:tabLst/>
                      </a:pPr>
                      <a:r>
                        <a:rPr sz="2200">
                          <a:solidFill>
                            <a:srgbClr val="333333"/>
                          </a:solidFill>
                          <a:latin typeface="Palatino Linotype"/>
                        </a:rPr>
                        <a:t>Xoá dữ liệu liên quan tới hồ sơ được điều chỉnh trong bảng tương ứng</a:t>
                      </a:r>
                      <a:endParaRPr lang="vi-VN" sz="22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  <a:p>
                      <a:pPr marL="571500" indent="-342900">
                        <a:buFont typeface="Wingdings" pitchFamily="2" charset="2"/>
                        <a:buChar char="§"/>
                        <a:tabLst/>
                      </a:pPr>
                      <a:r>
                        <a:rPr sz="2200">
                          <a:solidFill>
                            <a:srgbClr val="333333"/>
                          </a:solidFill>
                          <a:latin typeface="Palatino Linotype"/>
                        </a:rPr>
                        <a:t>Ghi dữ liệu mới vào bảng</a:t>
                      </a:r>
                      <a:r>
                        <a:rPr lang="vi-VN" sz="2200">
                          <a:solidFill>
                            <a:srgbClr val="333333"/>
                          </a:solidFill>
                          <a:latin typeface="Palatino Linotype"/>
                        </a:rPr>
                        <a:t> trên</a:t>
                      </a:r>
                      <a:endParaRPr sz="22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33333"/>
                          </a:solidFill>
                          <a:latin typeface="Palatino Linotype"/>
                        </a:rPr>
                        <a:t>Delete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333333"/>
                          </a:solidFill>
                          <a:latin typeface="Palatino Linotype"/>
                        </a:rPr>
                        <a:t>Xoá dữ liệu khi có hành động xoá trên giao diện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4. THIẾT KẾ HIỆN TẠI TRÊN SB_DWH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658617"/>
              </p:ext>
            </p:extLst>
          </p:nvPr>
        </p:nvGraphicFramePr>
        <p:xfrm>
          <a:off x="457200" y="1198497"/>
          <a:ext cx="11146536" cy="476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6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9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Palatino Linotype"/>
                        </a:rPr>
                        <a:t>Thành phần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Palatino Linotype"/>
                        </a:rPr>
                        <a:t>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DIMENSION_KEY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Sequence key, số tự tăng, làm khóa chính (PK) của bảng DIM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&lt;object&gt;_SK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Cũng là sequence key tương tự DIMENSION_KEY. DIM có nhiều level đối tượng thì mỗi level có sequence key riêng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TOTAL / TOTAL_NAME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Giá trị cố định 'TOTAL'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TOTAL_SK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Giá trị mặc định cố định theo bảng: -2 (DIM_ACCOUNT) hoặc -1 (DIM_LOAN)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EFF_DATE / EXP_DATE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Ngày hiệu lực bản ghi — còn hiệu lực khi EXP_DATE IS NULL. Phục vụ xử lý SCD-2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INPUTER / AUTHORISER...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Nhóm cột maker-checker, xuất hiện ở khá nhiều DIM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Cột thuộc tính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Thông tin mô tả gắn với từng đối tượng của DIM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AA9936B-A2CA-BB04-BDC7-58CC9F6F9D3D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4.1. Bảng DIMENSION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78F11-BE4F-78F0-754D-20F885278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82C27E-D0FE-7DA2-5069-499CFE0C0939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4. THIẾT KẾ HIỆN TẠI TRÊN SB_DW</a:t>
            </a:r>
            <a:r>
              <a:rPr lang="vi-VN" sz="2400" b="1">
                <a:solidFill>
                  <a:srgbClr val="58911F"/>
                </a:solidFill>
                <a:latin typeface="Palatino Linotype"/>
              </a:rPr>
              <a:t>H</a:t>
            </a:r>
            <a:endParaRPr sz="2400" b="1">
              <a:solidFill>
                <a:srgbClr val="58911F"/>
              </a:solidFill>
              <a:latin typeface="Palatino Linotyp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1C8E90-C881-A034-472B-6C9C3F1FE8AF}"/>
              </a:ext>
            </a:extLst>
          </p:cNvPr>
          <p:cNvSpPr txBox="1"/>
          <p:nvPr/>
        </p:nvSpPr>
        <p:spPr>
          <a:xfrm>
            <a:off x="762000" y="1198497"/>
            <a:ext cx="11146536" cy="2584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2000" b="1">
                <a:solidFill>
                  <a:srgbClr val="333333"/>
                </a:solidFill>
                <a:latin typeface="Palatino Linotype"/>
              </a:rPr>
              <a:t>•  Ví dụ: DIM_</a:t>
            </a:r>
            <a:r>
              <a:rPr lang="vi-VN" sz="2000" b="1">
                <a:solidFill>
                  <a:srgbClr val="333333"/>
                </a:solidFill>
                <a:latin typeface="Palatino Linotype"/>
              </a:rPr>
              <a:t>LOS</a:t>
            </a:r>
            <a:r>
              <a:rPr sz="2000" b="1">
                <a:solidFill>
                  <a:srgbClr val="333333"/>
                </a:solidFill>
                <a:latin typeface="Palatino Linotype"/>
              </a:rPr>
              <a:t>_ORG_UNIT (1 dòng = 1 đơn vị kinh doanh)</a:t>
            </a:r>
          </a:p>
          <a:p>
            <a:pPr lvl="1">
              <a:lnSpc>
                <a:spcPct val="1500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Palatino Linotype"/>
              </a:rPr>
              <a:t>-  Khóa: DIMENSION_KEY (PK)</a:t>
            </a:r>
            <a:endParaRPr lang="vi-VN" sz="2000" b="0">
              <a:solidFill>
                <a:srgbClr val="333333"/>
              </a:solidFill>
              <a:latin typeface="Palatino Linotype"/>
            </a:endParaRPr>
          </a:p>
          <a:p>
            <a:pPr lvl="1">
              <a:lnSpc>
                <a:spcPct val="150000"/>
              </a:lnSpc>
              <a:spcAft>
                <a:spcPts val="600"/>
              </a:spcAft>
            </a:pPr>
            <a:r>
              <a:rPr lang="en-VN" sz="2000">
                <a:solidFill>
                  <a:srgbClr val="333333"/>
                </a:solidFill>
                <a:latin typeface="Palatino Linotype"/>
              </a:rPr>
              <a:t>- </a:t>
            </a:r>
            <a:r>
              <a:rPr sz="2000" b="0">
                <a:solidFill>
                  <a:srgbClr val="333333"/>
                </a:solidFill>
                <a:latin typeface="Palatino Linotype"/>
              </a:rPr>
              <a:t>&lt;object&gt;_SK: ORG_UNIT_SK — mặc định -1 nếu không có giá trị</a:t>
            </a:r>
          </a:p>
          <a:p>
            <a:pPr lvl="1">
              <a:lnSpc>
                <a:spcPct val="1500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Palatino Linotype"/>
              </a:rPr>
              <a:t>-  Cột thuộc tính: COMPANY_CODE, COMPANY_NAME, BRANCH_CODE, BRANCH_NAME, ZONE_NAME_LOS</a:t>
            </a:r>
            <a:r>
              <a:rPr lang="vi-VN" sz="2000" b="0">
                <a:solidFill>
                  <a:srgbClr val="333333"/>
                </a:solidFill>
                <a:latin typeface="Palatino Linotype"/>
              </a:rPr>
              <a:t>,...</a:t>
            </a:r>
            <a:endParaRPr sz="2000" b="0">
              <a:solidFill>
                <a:srgbClr val="333333"/>
              </a:solidFill>
              <a:latin typeface="Palatino Linotyp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12158A-701A-35B2-663A-FEB149EA70FF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4.1. Bảng DIMENSION</a:t>
            </a:r>
          </a:p>
        </p:txBody>
      </p:sp>
    </p:spTree>
    <p:extLst>
      <p:ext uri="{BB962C8B-B14F-4D97-AF65-F5344CB8AC3E}">
        <p14:creationId xmlns:p14="http://schemas.microsoft.com/office/powerpoint/2010/main" val="1419126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4. THIẾT KẾ HIỆN TẠI TRÊN SB_DWH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22317"/>
              </p:ext>
            </p:extLst>
          </p:nvPr>
        </p:nvGraphicFramePr>
        <p:xfrm>
          <a:off x="461264" y="1369060"/>
          <a:ext cx="11142472" cy="242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5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7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Palatino Linotype"/>
                        </a:rPr>
                        <a:t>Thành phần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Palatino Linotype"/>
                        </a:rPr>
                        <a:t>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DAYID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Ngày dữ </a:t>
                      </a:r>
                      <a:r>
                        <a:rPr lang="vi-VN" sz="2000">
                          <a:solidFill>
                            <a:srgbClr val="333333"/>
                          </a:solidFill>
                          <a:latin typeface="Palatino Linotype"/>
                        </a:rPr>
                        <a:t>liệu</a:t>
                      </a:r>
                      <a:endParaRPr sz="20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DATASOURCE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Nguồn dữ liệu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&lt;object&gt;_SK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Toàn bộ các cột dạng </a:t>
                      </a:r>
                      <a:r>
                        <a:rPr lang="vi-VN" sz="2000">
                          <a:solidFill>
                            <a:srgbClr val="333333"/>
                          </a:solidFill>
                          <a:latin typeface="Palatino Linotype"/>
                        </a:rPr>
                        <a:t>"</a:t>
                      </a:r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_SK</a:t>
                      </a:r>
                      <a:r>
                        <a:rPr lang="vi-VN" sz="2000">
                          <a:solidFill>
                            <a:srgbClr val="333333"/>
                          </a:solidFill>
                          <a:latin typeface="Palatino Linotype"/>
                        </a:rPr>
                        <a:t>"</a:t>
                      </a:r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 là FK trỏ tới các bảng DI</a:t>
                      </a:r>
                      <a:r>
                        <a:rPr lang="vi-VN" sz="2000">
                          <a:solidFill>
                            <a:srgbClr val="333333"/>
                          </a:solidFill>
                          <a:latin typeface="Palatino Linotype"/>
                        </a:rPr>
                        <a:t>M</a:t>
                      </a:r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 tương ứng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Measure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Các cột đo lường / số liệu tổng hợp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Cột khai thác khác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333333"/>
                          </a:solidFill>
                          <a:latin typeface="Palatino Linotype"/>
                        </a:rPr>
                        <a:t>Phục vụ mục đích truy vấn/báo cáo bổ sung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22732" y="4011612"/>
            <a:ext cx="111465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33333"/>
                </a:solidFill>
                <a:latin typeface="Palatino Linotype"/>
              </a:rPr>
              <a:t>•  Ví dụ: FCT_</a:t>
            </a:r>
            <a:r>
              <a:rPr lang="vi-VN" sz="2000" b="1">
                <a:solidFill>
                  <a:srgbClr val="333333"/>
                </a:solidFill>
                <a:latin typeface="Palatino Linotype"/>
              </a:rPr>
              <a:t>LOS</a:t>
            </a:r>
            <a:r>
              <a:rPr sz="2000" b="1">
                <a:solidFill>
                  <a:srgbClr val="333333"/>
                </a:solidFill>
                <a:latin typeface="Palatino Linotype"/>
              </a:rPr>
              <a:t>_APPLICATION_DAILY (1 dòng = 1 hồ sơ × 1 ngày dữ liệu)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Palatino Linotype"/>
              </a:rPr>
              <a:t>- </a:t>
            </a:r>
            <a:r>
              <a:rPr lang="vi-VN" sz="2000" b="0">
                <a:solidFill>
                  <a:srgbClr val="333333"/>
                </a:solidFill>
                <a:latin typeface="Palatino Linotype"/>
              </a:rPr>
              <a:t> </a:t>
            </a:r>
            <a:r>
              <a:rPr sz="2000" b="0">
                <a:solidFill>
                  <a:srgbClr val="333333"/>
                </a:solidFill>
                <a:latin typeface="Palatino Linotype"/>
              </a:rPr>
              <a:t>Khóa: DAYID + WI_NAME</a:t>
            </a:r>
            <a:r>
              <a:rPr lang="vi-VN" sz="2000" b="0">
                <a:solidFill>
                  <a:srgbClr val="333333"/>
                </a:solidFill>
                <a:latin typeface="Palatino Linotype"/>
              </a:rPr>
              <a:t> (mã hồ sơ)</a:t>
            </a:r>
          </a:p>
          <a:p>
            <a:pPr lvl="1">
              <a:spcAft>
                <a:spcPts val="600"/>
              </a:spcAft>
            </a:pPr>
            <a:r>
              <a:rPr lang="vi-VN" sz="2000">
                <a:solidFill>
                  <a:srgbClr val="333333"/>
                </a:solidFill>
                <a:latin typeface="Palatino Linotype"/>
              </a:rPr>
              <a:t>-  DATASOURCE: RLOS/CLOS</a:t>
            </a:r>
            <a:endParaRPr lang="vi-VN" sz="2000" b="0">
              <a:solidFill>
                <a:srgbClr val="333333"/>
              </a:solidFill>
              <a:latin typeface="Palatino Linotype"/>
            </a:endParaRPr>
          </a:p>
          <a:p>
            <a:pPr lvl="1">
              <a:spcAft>
                <a:spcPts val="600"/>
              </a:spcAft>
            </a:pPr>
            <a:r>
              <a:rPr lang="en-VN" sz="2000">
                <a:solidFill>
                  <a:srgbClr val="333333"/>
                </a:solidFill>
                <a:latin typeface="Palatino Linotype"/>
              </a:rPr>
              <a:t>-  </a:t>
            </a:r>
            <a:r>
              <a:rPr sz="2000" b="0">
                <a:solidFill>
                  <a:srgbClr val="333333"/>
                </a:solidFill>
                <a:latin typeface="Palatino Linotype"/>
              </a:rPr>
              <a:t>FK tới 11 chiều</a:t>
            </a:r>
            <a:r>
              <a:rPr lang="vi-VN" sz="2000" b="0">
                <a:solidFill>
                  <a:srgbClr val="333333"/>
                </a:solidFill>
                <a:latin typeface="Palatino Linotype"/>
              </a:rPr>
              <a:t> thông tin</a:t>
            </a:r>
            <a:r>
              <a:rPr sz="2000" b="0">
                <a:solidFill>
                  <a:srgbClr val="333333"/>
                </a:solidFill>
                <a:latin typeface="Palatino Linotype"/>
              </a:rPr>
              <a:t> (APPLICATION_SK, ORG_UNIT_SK, PRODUCT_SK...)</a:t>
            </a:r>
          </a:p>
          <a:p>
            <a:pPr lvl="1"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Palatino Linotype"/>
              </a:rPr>
              <a:t>-</a:t>
            </a:r>
            <a:r>
              <a:rPr lang="vi-VN" sz="2000" b="0">
                <a:solidFill>
                  <a:srgbClr val="333333"/>
                </a:solidFill>
                <a:latin typeface="Palatino Linotype"/>
              </a:rPr>
              <a:t> </a:t>
            </a:r>
            <a:r>
              <a:rPr sz="2000" b="0">
                <a:solidFill>
                  <a:srgbClr val="333333"/>
                </a:solidFill>
                <a:latin typeface="Palatino Linotype"/>
              </a:rPr>
              <a:t> Cột khai thác: BI_APPSTATUS, BI_FLOW — trạng thái/luồng đã chuẩn hóa sẵn cho 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6AD4C-5C3D-297E-BC8D-BCA0533D24CB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4.2. Bảng FACT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FB3682-D5B2-657A-0A04-012A72DB42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118920"/>
            <a:ext cx="8610600" cy="51239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285EC3-7474-921C-6B74-EF3AA6F77C4A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5.1. Mô hình thiết kế tổng quan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6200" y="1328420"/>
            <a:ext cx="9372600" cy="277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1800" b="0">
                <a:solidFill>
                  <a:srgbClr val="333333"/>
                </a:solidFill>
                <a:latin typeface="Palatino Linotype"/>
              </a:rPr>
              <a:t>Xuất phát từ các bảng nguồn trên LOS cùng mô tả 1 đối tượng nghiệp vụ</a:t>
            </a:r>
            <a:endParaRPr lang="vi-VN" sz="1800" b="0">
              <a:solidFill>
                <a:srgbClr val="333333"/>
              </a:solidFill>
              <a:latin typeface="Palatino Linotype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lang="en-VN">
                <a:solidFill>
                  <a:srgbClr val="333333"/>
                </a:solidFill>
                <a:latin typeface="Palatino Linotype"/>
              </a:rPr>
              <a:t>Hợp nhất thành bảng Dimension ở tầng SB_DWH</a:t>
            </a:r>
            <a:endParaRPr sz="1800" b="0">
              <a:solidFill>
                <a:srgbClr val="333333"/>
              </a:solidFill>
              <a:latin typeface="Palatino Linotype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1800" b="0">
                <a:solidFill>
                  <a:srgbClr val="333333"/>
                </a:solidFill>
                <a:latin typeface="Palatino Linotype"/>
              </a:rPr>
              <a:t>Xem thuộc tính chính có phải loại tương đối ổn định, dùng để phân loại/gắn nhãn hay không</a:t>
            </a:r>
            <a:endParaRPr lang="vi-VN" sz="1800" b="0">
              <a:solidFill>
                <a:srgbClr val="333333"/>
              </a:solidFill>
              <a:latin typeface="Palatino Linotype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lang="vi-VN" b="0">
                <a:solidFill>
                  <a:srgbClr val="333333"/>
                </a:solidFill>
                <a:latin typeface="Palatino Linotype"/>
              </a:rPr>
              <a:t>Nếu đúng: kết luận tạo DIM_LOS (SB_DWH), trên tầng PDTD_DTM tái sử dụng gần như 1-1 từ DIM_LOS tương ứng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29026A-825D-5C77-FE08-ACFE97567A11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5.1. Thiết kế bảng DIMENSION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486FB-2BC4-2C80-00E4-5E5A8351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DD043-8A5D-1C75-C769-491188BBC901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4809A7-D1DF-08CE-1A45-D3309397E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725680"/>
              </p:ext>
            </p:extLst>
          </p:nvPr>
        </p:nvGraphicFramePr>
        <p:xfrm>
          <a:off x="522734" y="1198497"/>
          <a:ext cx="11081002" cy="4098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1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7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nguồn LOS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Đối tượng 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Tầng 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SB_DWH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Tầng 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NG_SB_CLOS_CUST_INFO (thông tin hồ sơ)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NG_SB_RLOS_APPLICANT_GENERAL, NG_SB_RLOS_SUB_PRODUCT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Sản phẩm tín dụng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DIM_LOS_PRODUCT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DIM_PDTD_PRODUCT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NG_SB_CLOS_APPROVAL (cấp phê duyệt theo hạn mức)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NG_SB_RLOS_APPROVAL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Cấp thẩm quyền phê duyệt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DIM_LOS_APPROVAL_GROUP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DIM_PDTD_APPROVAL_GROUP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NG_SB_CLOS_ENTRY_EXIT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NG_SB_RLOS_ENTRY_EXIT (lịch sử xử lý theo bước)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Quyết định tại bước xử lý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DIM_LOS_DECISION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DIM_PDTD_DECISION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NG_SB_CLOS_CHANGEREQ (yêu cầu thay đổi hạn mức/điều kiện)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Loại thay đổi điều kiện phê duyệt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DIM_LOS_CHANGE_TYPE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DIM_PDTD_CHANGE_TYPE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1CAB41F-BA07-4328-DD19-2BAF045474E4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5.1. Thiết kế bảng DIMENSION</a:t>
            </a:r>
          </a:p>
        </p:txBody>
      </p:sp>
    </p:spTree>
    <p:extLst>
      <p:ext uri="{BB962C8B-B14F-4D97-AF65-F5344CB8AC3E}">
        <p14:creationId xmlns:p14="http://schemas.microsoft.com/office/powerpoint/2010/main" val="284070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0302D-CE65-EBA2-714B-D3C878FA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368D9C-6ADB-40A4-EAA0-87351A211254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E7951E-3153-B346-59AD-762283D49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09759"/>
              </p:ext>
            </p:extLst>
          </p:nvPr>
        </p:nvGraphicFramePr>
        <p:xfrm>
          <a:off x="522734" y="1198497"/>
          <a:ext cx="11081002" cy="4728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1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7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nguồn LOS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Đối tượng 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SB_DWH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lang="en-US"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NG_SB_CLOS_COLL_CD</a:t>
                      </a:r>
                    </a:p>
                    <a:p>
                      <a:r>
                        <a:rPr lang="en-US"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lang="en-US" sz="1600">
                          <a:solidFill>
                            <a:srgbClr val="333333"/>
                          </a:solidFill>
                          <a:latin typeface="Palatino Linotype"/>
                        </a:rPr>
                        <a:t>: gồm 4 bảng nguồn </a:t>
                      </a:r>
                      <a:r>
                        <a:rPr lang="en-VN" sz="1600" b="0" i="0" kern="120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NG_SB_RLOS_COL_REALESTATE (Bất động sản)</a:t>
                      </a:r>
                      <a:br>
                        <a:rPr lang="en-VN" sz="1600" b="0" i="0" kern="120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</a:br>
                      <a:r>
                        <a:rPr lang="en-VN" sz="1600" b="0" i="0" kern="120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NG_SB_RLOS_COL_TRANSPORT (Phương tiện giao thông vận tải)</a:t>
                      </a:r>
                      <a:br>
                        <a:rPr lang="en-VN" sz="1600" b="0" i="0" kern="120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</a:br>
                      <a:r>
                        <a:rPr lang="en-VN" sz="1600" b="0" i="0" kern="120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NG_SB_RLOS_COL_VALPAPER (Giấy tờ có giá)</a:t>
                      </a:r>
                      <a:br>
                        <a:rPr lang="en-VN" sz="1600" b="0" i="0" kern="120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</a:br>
                      <a:r>
                        <a:rPr lang="en-VN" sz="1600" b="0" i="0" kern="1200">
                          <a:solidFill>
                            <a:schemeClr val="dk1"/>
                          </a:solidFill>
                          <a:effectLst/>
                          <a:latin typeface="Palatino Linotype" panose="02040502050505030304" pitchFamily="18" charset="0"/>
                          <a:ea typeface="+mn-ea"/>
                          <a:cs typeface="+mn-cs"/>
                        </a:rPr>
                        <a:t>NG_SB_RLOS_COL_OTHER (TSBĐ khác)</a:t>
                      </a:r>
                      <a:endParaRPr lang="en-US" sz="1600">
                        <a:solidFill>
                          <a:srgbClr val="333333"/>
                        </a:solidFill>
                        <a:latin typeface="Palatino Linotype" panose="02040502050505030304" pitchFamily="18" charset="0"/>
                      </a:endParaRP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33333"/>
                          </a:solidFill>
                          <a:latin typeface="Palatino Linotype"/>
                        </a:rPr>
                        <a:t>Loại tài sản bảo đảm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DIM_LOS_COLLATERAL_TYPE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DIM_PDTD_COLLATERAL_TYPE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NG_SB_CLOS_MAS_EXCEPTION (danh mục master ngoại lệ)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tương đương (chưa xác nhận)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Lý do ngoại lệ chính sách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DIM_LOS_EXCEPTION_REASON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DIM_PDTD_EXCEPTION_REASON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H_NG_SB_RLOS_MAS_CITY (63 tỉnh/thành), H_NG_SB_RLOS_MAS_DISTRICT (710 quận/huyện) — dùng chung 2 hệ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Địa bàn hành chính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DIM_LOS_GEO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DIM_PDTD_GEO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C28C6A4-3975-816B-0E09-D5D9EE20CE76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5.1. Thiết kế bảng DIMENSION</a:t>
            </a:r>
          </a:p>
        </p:txBody>
      </p:sp>
    </p:spTree>
    <p:extLst>
      <p:ext uri="{BB962C8B-B14F-4D97-AF65-F5344CB8AC3E}">
        <p14:creationId xmlns:p14="http://schemas.microsoft.com/office/powerpoint/2010/main" val="2045825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839834"/>
              </p:ext>
            </p:extLst>
          </p:nvPr>
        </p:nvGraphicFramePr>
        <p:xfrm>
          <a:off x="457200" y="1209040"/>
          <a:ext cx="11146534" cy="4442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7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2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3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nguồn LOS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Đối tượng 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SB_DWH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NG_SB_CLOS_CUST_INFO, RLOS: NG_SB_RLOS_APPLICANT_GENERAL — chỉ lấy nhóm cột COMPANY/BRANCH/ZONE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Đơn vị kinh doanh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DIM_LOS_ORG_UNIT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DIM_PDTD_ORG_UNIT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CARD_INFOMATION (phát hành/gia hạn thẻ)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Chương trình ưu đãi phí thẻ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DIM_LOS_CARD_PROMOTION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DIM_PDTD_CARD_PROMOTION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ENTRY_EXIT (mã b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ư</a:t>
                      </a:r>
                      <a:r>
                        <a:rPr lang="en-US" sz="1600">
                          <a:solidFill>
                            <a:srgbClr val="333333"/>
                          </a:solidFill>
                          <a:latin typeface="Palatino Linotype"/>
                        </a:rPr>
                        <a:t>ớc</a:t>
                      </a:r>
                      <a:r>
                        <a:rPr lang="en-VN" sz="1600">
                          <a:solidFill>
                            <a:srgbClr val="333333"/>
                          </a:solidFill>
                          <a:latin typeface="Palatino Linotype"/>
                        </a:rPr>
                        <a:t>)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en-US"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lang="en-US"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NG_SB_RLOS_ENTRY_EXIT 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, WFINSTRUMENTTABLE (trạng thái tức thời BPM)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Bước xử lý trên workflow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DIM_LOS_WORKSTEP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DIM_PDTD_WORKSTEP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ENTRY_EXIT — username người thực hiện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en-US"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lang="en-US"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NG_SB_RLOS_ENTRY_EXIT 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Tài khoản cán bộ xử lý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DIM_LOS_USER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DIM_PDTD_USER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032D66-AD02-7A06-857F-7279C6781759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5.1. Thiết kế bảng DIMENSION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8EF6E-80C9-D5C2-C0C9-4B2D77D8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4E1B42-5E0F-46D4-3302-B1468D7E9F48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</a:t>
            </a:r>
            <a:r>
              <a:rPr lang="vi-VN" sz="2400" b="1">
                <a:solidFill>
                  <a:srgbClr val="58911F"/>
                </a:solidFill>
                <a:latin typeface="Palatino Linotype"/>
              </a:rPr>
              <a:t>Ế</a:t>
            </a:r>
            <a:endParaRPr sz="2400" b="1">
              <a:solidFill>
                <a:srgbClr val="58911F"/>
              </a:solidFill>
              <a:latin typeface="Palatino Linotype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858D2D-175F-2244-85DB-696F0D8E1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20201"/>
              </p:ext>
            </p:extLst>
          </p:nvPr>
        </p:nvGraphicFramePr>
        <p:xfrm>
          <a:off x="457200" y="1247140"/>
          <a:ext cx="11146536" cy="324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6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nguồn L</a:t>
                      </a:r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OS</a:t>
                      </a:r>
                      <a:endParaRPr sz="1600" b="1">
                        <a:solidFill>
                          <a:srgbClr val="FFFFFF"/>
                        </a:solidFill>
                        <a:latin typeface="Palatino Linotype"/>
                      </a:endParaRP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Đối tượng 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SB_DWH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lang="vi-VN"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Nguồn</a:t>
                      </a:r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 T24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SB_DWH.DIM_CUSTOMER — nối sang LOS qua số giấy tờ định danh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Khách hàng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DIM_CUSTOMER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DIM_PDTD_CUSTOMER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CUST_INFO, APPROVAL, EXTTABLE, CHANGEREQ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APPLICANT_GENERAL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NG_SB_RLOS_APPLICANT_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DETAIL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APPROVAL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EXTTABLE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Hồ sơ tín dụng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DIM_LOS_APPLICATION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DIM_PDTD_APPLICATION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4AB3415-D6DC-6ED0-2FFE-B03711F3325A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5.1. Thiết kế bảng DIMENSION</a:t>
            </a:r>
          </a:p>
        </p:txBody>
      </p:sp>
    </p:spTree>
    <p:extLst>
      <p:ext uri="{BB962C8B-B14F-4D97-AF65-F5344CB8AC3E}">
        <p14:creationId xmlns:p14="http://schemas.microsoft.com/office/powerpoint/2010/main" val="2570731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1303020"/>
            <a:ext cx="10333736" cy="2773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1800" b="0">
                <a:solidFill>
                  <a:srgbClr val="333333"/>
                </a:solidFill>
                <a:latin typeface="Palatino Linotype"/>
              </a:rPr>
              <a:t>Xuất phát từ các bảng nguồn trên LOS cùng mô tả 1 đối tượng nghiệp vụ phát sinh theo giao dịch/thời gian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1800" b="0">
                <a:solidFill>
                  <a:srgbClr val="333333"/>
                </a:solidFill>
                <a:latin typeface="Palatino Linotype"/>
              </a:rPr>
              <a:t>Hợp nhất thành 1 fact duy nhất ở tầng SB_DWH (FCT_LOS_*)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ü"/>
            </a:pPr>
            <a:r>
              <a:rPr sz="1800" b="0">
                <a:solidFill>
                  <a:srgbClr val="333333"/>
                </a:solidFill>
                <a:latin typeface="Palatino Linotype"/>
              </a:rPr>
              <a:t>Xem </a:t>
            </a:r>
            <a:r>
              <a:rPr lang="vi-VN" sz="1800" b="0">
                <a:solidFill>
                  <a:srgbClr val="333333"/>
                </a:solidFill>
                <a:latin typeface="Palatino Linotype"/>
              </a:rPr>
              <a:t>độ chi tiết</a:t>
            </a:r>
            <a:r>
              <a:rPr sz="1800" b="0">
                <a:solidFill>
                  <a:srgbClr val="333333"/>
                </a:solidFill>
                <a:latin typeface="Palatino Linotype"/>
              </a:rPr>
              <a:t> có ổn định, có chốt được rõ "1 dòng = ?" hay không</a:t>
            </a:r>
            <a:r>
              <a:rPr lang="vi-VN" sz="1800" b="0">
                <a:solidFill>
                  <a:srgbClr val="333333"/>
                </a:solidFill>
                <a:latin typeface="Palatino Linotype"/>
              </a:rPr>
              <a:t>?</a:t>
            </a:r>
            <a:endParaRPr sz="1800" b="0">
              <a:solidFill>
                <a:srgbClr val="333333"/>
              </a:solidFill>
              <a:latin typeface="Palatino Linotype"/>
            </a:endParaRPr>
          </a:p>
          <a:p>
            <a:pPr marL="742950" lvl="1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§"/>
            </a:pPr>
            <a:r>
              <a:rPr b="0">
                <a:solidFill>
                  <a:srgbClr val="333333"/>
                </a:solidFill>
                <a:latin typeface="Palatino Linotype"/>
              </a:rPr>
              <a:t>Nếu đúng: kết luận tạo F</a:t>
            </a:r>
            <a:r>
              <a:rPr lang="vi-VN">
                <a:solidFill>
                  <a:srgbClr val="333333"/>
                </a:solidFill>
                <a:latin typeface="Palatino Linotype"/>
              </a:rPr>
              <a:t>A</a:t>
            </a:r>
            <a:r>
              <a:rPr b="0">
                <a:solidFill>
                  <a:srgbClr val="333333"/>
                </a:solidFill>
                <a:latin typeface="Palatino Linotype"/>
              </a:rPr>
              <a:t>CT</a:t>
            </a:r>
            <a:r>
              <a:rPr lang="vi-VN" b="0">
                <a:solidFill>
                  <a:srgbClr val="333333"/>
                </a:solidFill>
                <a:latin typeface="Palatino Linotype"/>
              </a:rPr>
              <a:t>_LOS (SB_DWH)</a:t>
            </a:r>
            <a:r>
              <a:rPr b="0">
                <a:solidFill>
                  <a:srgbClr val="333333"/>
                </a:solidFill>
                <a:latin typeface="Palatino Linotype"/>
              </a:rPr>
              <a:t>,</a:t>
            </a:r>
            <a:r>
              <a:rPr lang="vi-VN" b="0">
                <a:solidFill>
                  <a:srgbClr val="333333"/>
                </a:solidFill>
                <a:latin typeface="Palatino Linotype"/>
              </a:rPr>
              <a:t> tầng</a:t>
            </a:r>
            <a:r>
              <a:rPr b="0">
                <a:solidFill>
                  <a:srgbClr val="333333"/>
                </a:solidFill>
                <a:latin typeface="Palatino Linotype"/>
              </a:rPr>
              <a:t> PDTD_DTM </a:t>
            </a:r>
            <a:r>
              <a:rPr lang="vi-VN" b="0">
                <a:solidFill>
                  <a:srgbClr val="333333"/>
                </a:solidFill>
                <a:latin typeface="Palatino Linotype"/>
              </a:rPr>
              <a:t>tái sử dụng gần như 1-1</a:t>
            </a:r>
            <a:r>
              <a:rPr b="0">
                <a:solidFill>
                  <a:srgbClr val="333333"/>
                </a:solidFill>
                <a:latin typeface="Palatino Linotype"/>
              </a:rPr>
              <a:t> F</a:t>
            </a:r>
            <a:r>
              <a:rPr lang="vi-VN" b="0">
                <a:solidFill>
                  <a:srgbClr val="333333"/>
                </a:solidFill>
                <a:latin typeface="Palatino Linotype"/>
              </a:rPr>
              <a:t>A</a:t>
            </a:r>
            <a:r>
              <a:rPr b="0">
                <a:solidFill>
                  <a:srgbClr val="333333"/>
                </a:solidFill>
                <a:latin typeface="Palatino Linotype"/>
              </a:rPr>
              <a:t>CT_LOS tương ứng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DA7F9-F3E9-5A8C-58F1-421C291C6793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5.2. Thiết kế bảng Fact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BA0159-DA38-2D4F-8AE0-0010D3465112}"/>
              </a:ext>
            </a:extLst>
          </p:cNvPr>
          <p:cNvSpPr txBox="1"/>
          <p:nvPr/>
        </p:nvSpPr>
        <p:spPr>
          <a:xfrm>
            <a:off x="1270000" y="4076728"/>
            <a:ext cx="10333736" cy="465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vi-VN" sz="1800" b="0">
                <a:solidFill>
                  <a:srgbClr val="333333"/>
                </a:solidFill>
                <a:latin typeface="Palatino Linotype"/>
              </a:rPr>
              <a:t>15 Fact</a:t>
            </a:r>
            <a:endParaRPr sz="1800" b="0">
              <a:solidFill>
                <a:srgbClr val="333333"/>
              </a:solidFill>
              <a:latin typeface="Palatino Linotyp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45445-BE2C-B1E2-E4CF-1A61915BB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C9E7B6-41F3-349A-2745-0B1A69C27E8B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458ED5-CF0C-B8E5-5353-33520E4B7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49679"/>
              </p:ext>
            </p:extLst>
          </p:nvPr>
        </p:nvGraphicFramePr>
        <p:xfrm>
          <a:off x="497336" y="1181100"/>
          <a:ext cx="11146532" cy="5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3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2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2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24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nguồn LOS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Đối tượng 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Grain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SB_DWH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ENTRY_EXIT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CREDITINFO_CD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COMM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ENTRY_EXIT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CREDIT_PROPOSAL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NG_SB_RLOS_CREDIT_PROPOSAL_APP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REPAY_CAL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C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REPAYFLAGS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Chung: 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WFINSTRUMENTTABLE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Trạng thái hồ sơ cuối mỗi ngày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hồ sơ × 1 ngày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FCT_LOS_APPLICATION_DAILY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FCT_PDTD_APPLICATION_DAILY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NG_SB_CLOS_ENTRY_EXIT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NG_SB_RLOS_ENTRY_EXIT 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— nhật ký workflow mức nguyên tử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 cho 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mọi sự kiện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Mỗi lần hồ sơ vào 1 bước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logical event (hồ sơ × bước × lần vào)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FCT_LOS_WORKSTEP_EVENT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FCT_PDTD_WORKSTEP_EVENT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NG_SB_CLOS_ENTRY_EXIT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NG_SB_RLOS_ENTRY_EXIT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Thời gian xử lý lũy kế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hồ sơ × 1 ngày có action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FCT_LOS_SLA_DAILY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FCT_PDTD_SLA_DAILY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D69FE1-9677-CE84-2B71-1A4A7F2E368B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5.2. Thiết kế bảng Fact</a:t>
            </a:r>
          </a:p>
        </p:txBody>
      </p:sp>
    </p:spTree>
    <p:extLst>
      <p:ext uri="{BB962C8B-B14F-4D97-AF65-F5344CB8AC3E}">
        <p14:creationId xmlns:p14="http://schemas.microsoft.com/office/powerpoint/2010/main" val="4120854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2D014-7798-67E0-90C0-FF7DC16F0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925483-B939-C32B-D8E8-3CF29067EF29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A7D055-B219-762C-CCA4-BDA16EE6B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673698"/>
              </p:ext>
            </p:extLst>
          </p:nvPr>
        </p:nvGraphicFramePr>
        <p:xfrm>
          <a:off x="497336" y="1244600"/>
          <a:ext cx="1114653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nguồn LOS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Đối tượng 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Grain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SB_DWH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CLOS: </a:t>
                      </a:r>
                      <a:r>
                        <a:rPr lang="vi-VN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CUST_INFO </a:t>
                      </a:r>
                      <a:r>
                        <a:rPr lang="vi-VN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CUST_INFO_LEGAL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RLOS: </a:t>
                      </a:r>
                      <a:r>
                        <a:rPr lang="vi-VN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APPLICANT_GENERAL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COREPAYER_GENERAL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Người liên quan tới hồ sơ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người × 1 hồ sơ, theo DAYID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FCT_LOS_APPLICATION_PARTY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FCT_PDTD_APPLICATION_PARTY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lang="en-US" sz="1600">
                          <a:solidFill>
                            <a:srgbClr val="333333"/>
                          </a:solidFill>
                          <a:latin typeface="Palatino Linotype"/>
                        </a:rPr>
                        <a:t>: NG_SB_CLOS_CUST_INFO_LEGAL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APPLICANT_IDGRID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COREP_IDGRID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Giấy tờ tùy thân người liên quan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giấy tờ × 1 người × 1 hồ sơ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FCT_LOS_PARTY_DOCUMENT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FCT_PDTD_PARTY_DOCUMENT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COLL_CD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4 bảng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COL_REALESTATE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TRANSPORT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VALPAPER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OTHER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Tài sản bảo đảm của hồ sơ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tài sản × 1 hồ sơ, theo DAYID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FCT_LOS_COLLATERAL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FCT_PDTD_COLLATERAL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0D5DD7-A817-052C-035E-EC80A0038CC7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5.2. Thiết kế bảng Fact</a:t>
            </a:r>
          </a:p>
        </p:txBody>
      </p:sp>
    </p:spTree>
    <p:extLst>
      <p:ext uri="{BB962C8B-B14F-4D97-AF65-F5344CB8AC3E}">
        <p14:creationId xmlns:p14="http://schemas.microsoft.com/office/powerpoint/2010/main" val="819154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9CD02-11C2-D5B6-2405-2C613F266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45E145-67D0-E114-2722-8CE60977B2E8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FDFDE68-E460-B901-F4FF-D7016BBDA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30464"/>
              </p:ext>
            </p:extLst>
          </p:nvPr>
        </p:nvGraphicFramePr>
        <p:xfrm>
          <a:off x="497336" y="1244600"/>
          <a:ext cx="11146532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nguồn LOS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Đối tượng 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Grain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SB_DWH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CONDITON_CDGRID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MANUAL_DEVIATION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Ngoại lệ chính sách trên hồ sơ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ngoại lệ × 1 hồ sơ, theo DAYID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FCT_LOS_DEVIATION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FCT_PDTD_DEVIATION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EXCEPTION (log phát sinh)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EXCEPTION (cơ chế Raise/Clear)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Lần ghi nhận lý do trả về/bổ sung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lần ghi nhận × 1 hồ sơ, theo DAYID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FCT_LOS_EXCEPTION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FCT_PDTD_EXCEPTION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SUB_PRODUCT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CREDIT_CARD_APP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SEABUY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_APP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CIVIL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_APP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TEACHER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_APP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WOMAN_APP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SENT_CBS_LOG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Sản phẩm phụ đăng ký kèm hồ sơ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occurrence, theo DAYID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FCT_LOS_SUB_PRODUCT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FCT_PDTD_SUB_PRODUCT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58C8BD-F524-30A3-0A19-C6FC3279278A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5.2. Thiết kế bảng Fact</a:t>
            </a:r>
          </a:p>
        </p:txBody>
      </p:sp>
    </p:spTree>
    <p:extLst>
      <p:ext uri="{BB962C8B-B14F-4D97-AF65-F5344CB8AC3E}">
        <p14:creationId xmlns:p14="http://schemas.microsoft.com/office/powerpoint/2010/main" val="3105241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25CB7-AD8A-FF9D-5202-3C151DD30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A4E960-BE0D-7E29-CD3F-434B72F02495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EB7B1A-E134-73D4-49BC-54A61C39683C}"/>
              </a:ext>
            </a:extLst>
          </p:cNvPr>
          <p:cNvGraphicFramePr>
            <a:graphicFrameLocks noGrp="1"/>
          </p:cNvGraphicFramePr>
          <p:nvPr/>
        </p:nvGraphicFramePr>
        <p:xfrm>
          <a:off x="497336" y="1244600"/>
          <a:ext cx="11146532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nguồn LOS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Đối tượng 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Grain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SB_DWH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CONDITON_CDGRID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MANUAL_DEVIATION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Ngoại lệ chính sách trên hồ sơ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ngoại lệ × 1 hồ sơ, theo DAYID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FCT_LOS_DEVIATION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FCT_PDTD_DEVIATION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CLOS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NG_SB_CLOS_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EXCEPTION (log phát sinh)</a:t>
                      </a:r>
                    </a:p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EXCEPTION (cơ chế Raise/Clear)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Lần ghi nhận lý do trả về/bổ sung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lần ghi nhận × 1 hồ sơ, theo DAYID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FCT_LOS_EXCEPTION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FCT_PDTD_EXCEPTION</a:t>
                      </a: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333333"/>
                          </a:solidFill>
                          <a:latin typeface="Palatino Linotype"/>
                        </a:rPr>
                        <a:t>RLOS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: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SUB_PRODUCT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CREDIT_CARD_APP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SEABUY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_APP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CIVIL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_APP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TEACHER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_APP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WOMAN_APP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NG_SB_RLOS_</a:t>
                      </a:r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SENT_CBS_LOG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Sản phẩm phụ đăng ký kèm hồ sơ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occurrence, theo DAYID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FCT_LOS_SUB_PRODUCT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FCT_PDTD_SUB_PRODUCT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1BFDC9-A737-10C8-91C1-A0D787713196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5.2. Thiết kế bảng Fact</a:t>
            </a:r>
          </a:p>
        </p:txBody>
      </p:sp>
    </p:spTree>
    <p:extLst>
      <p:ext uri="{BB962C8B-B14F-4D97-AF65-F5344CB8AC3E}">
        <p14:creationId xmlns:p14="http://schemas.microsoft.com/office/powerpoint/2010/main" val="1224660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487707"/>
              </p:ext>
            </p:extLst>
          </p:nvPr>
        </p:nvGraphicFramePr>
        <p:xfrm>
          <a:off x="584200" y="1221740"/>
          <a:ext cx="1096873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4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nguồn LOS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Đối tượng mô tả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Grain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SB_DWH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Nguồn ngoài LOS, nguồn T24: FCT_LOAN, DIM_LOAN, DIM_COMPANY, DIM_SEAB_PRODUCT_DE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Khoản vay đã giải ngân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hợp đồng khoản vay x 1 ngày dữ liệu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FCT_LOAN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FCT_PDTD_DISBURSEMENT 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Tổng hợp từ Fac: FCT_PDTD_APPLICATION_DAILY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Chỉ tiêu tính KPI riêng ở tầng DTM (khối lượng, luỹ kế theo ngày/năm)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1 hồ sơ x 1 ngày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1 hồ sơ x 1 user</a:t>
                      </a:r>
                      <a:b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1 ngày x toàn khối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FCT_PDTD_KPI_APPLICATION</a:t>
                      </a:r>
                      <a:b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FCT_PDTD_KPI_USER_YEAR</a:t>
                      </a:r>
                      <a:b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FCT_PDTD_KPI_YTD_DAILY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Tổng hợp từ các Fact:</a:t>
                      </a:r>
                      <a:b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FCT_PDTD_APPLICATION_DAILY </a:t>
                      </a:r>
                      <a:b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</a:br>
                      <a: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FCT_PDTD_DISBURSEMENT 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Mốc hồ sơ đạt được lần đầu (phê duyệt, giải ngân)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1 </a:t>
                      </a:r>
                      <a:r>
                        <a:rPr lang="vi-VN" sz="1600">
                          <a:solidFill>
                            <a:srgbClr val="333333"/>
                          </a:solidFill>
                          <a:latin typeface="Palatino Linotype"/>
                        </a:rPr>
                        <a:t>hồ sơ x 1 loại mốc (chỉ lần đầu)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solidFill>
                            <a:srgbClr val="333333"/>
                          </a:solidFill>
                          <a:latin typeface="Palatino Linotype"/>
                        </a:rPr>
                        <a:t>FCT_PDTD_APPLICATION_MILESTONE </a:t>
                      </a:r>
                      <a:endParaRPr sz="1600">
                        <a:solidFill>
                          <a:srgbClr val="333333"/>
                        </a:solidFill>
                        <a:latin typeface="Palatino Linotype"/>
                      </a:endParaRP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E2B5250-6719-741B-6DE6-E70946F1E6E9}"/>
              </a:ext>
            </a:extLst>
          </p:cNvPr>
          <p:cNvSpPr txBox="1"/>
          <p:nvPr/>
        </p:nvSpPr>
        <p:spPr>
          <a:xfrm>
            <a:off x="522732" y="721243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5.2. Thiết kế bảng Fact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640002"/>
              </p:ext>
            </p:extLst>
          </p:nvPr>
        </p:nvGraphicFramePr>
        <p:xfrm>
          <a:off x="762000" y="1005840"/>
          <a:ext cx="10841736" cy="5289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6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Báo cáo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</a:t>
                      </a:r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trên tầng 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BC1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FCT_APPLICATION_PARTY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FCT_COLLATERAL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FCT_PARTY_DOCUMENT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FCT_SUB_PRODUCT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DIM_APPROVAL_GROUP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DIM_CARD_PROMOTION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DIM_CHANGE_TYPE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DIM_COLLATERAL_TYPE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DIM_CUSTOMER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DIM_DECISION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DIM_GEO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DIM_ORG_UNIT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DIM_PRODUCT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DIM_USER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DIM_WORKSTEP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B70B2B3-8001-C208-BA16-9B0CAFAB2E25}"/>
              </a:ext>
            </a:extLst>
          </p:cNvPr>
          <p:cNvSpPr txBox="1"/>
          <p:nvPr/>
        </p:nvSpPr>
        <p:spPr>
          <a:xfrm>
            <a:off x="522732" y="559564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5.3. Báo cáo sử dụng Datamart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9C508-DB9A-1133-1F79-5F5934D91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9B77FF-6958-A2CC-878A-4B01F4FAE475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DC68BA-24D6-2F7E-7AA7-689FC0DE4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866156"/>
              </p:ext>
            </p:extLst>
          </p:nvPr>
        </p:nvGraphicFramePr>
        <p:xfrm>
          <a:off x="889000" y="1005840"/>
          <a:ext cx="10714736" cy="431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93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5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Báo cáo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</a:t>
                      </a:r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trên tầng 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BC2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FCT_APPLICATION_PARTY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FCT_PARTY_DOCUMENT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DIM_APPROVAL_GROUP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DIM_CHANGE_TYPE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DIM_COLLATERAL_TYPE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DIM_CUSTOMER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DIM_DECISION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DIM_ORG_UNIT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DIM_PRODUCT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DIM_USER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DIM_WORKSTEP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9F6AF2A-63D0-C1FF-64E6-9C83CC01702D}"/>
              </a:ext>
            </a:extLst>
          </p:cNvPr>
          <p:cNvSpPr txBox="1"/>
          <p:nvPr/>
        </p:nvSpPr>
        <p:spPr>
          <a:xfrm>
            <a:off x="522732" y="559564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5.3. Báo cáo sử dụng Datamart</a:t>
            </a:r>
          </a:p>
        </p:txBody>
      </p:sp>
    </p:spTree>
    <p:extLst>
      <p:ext uri="{BB962C8B-B14F-4D97-AF65-F5344CB8AC3E}">
        <p14:creationId xmlns:p14="http://schemas.microsoft.com/office/powerpoint/2010/main" val="2618490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9D665-AD88-F39B-18FE-73C8D9728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B15123-FEA2-4038-6C05-3D9E7F2554C1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204E6-6BFF-B1DE-081D-07E687233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641301"/>
              </p:ext>
            </p:extLst>
          </p:nvPr>
        </p:nvGraphicFramePr>
        <p:xfrm>
          <a:off x="863600" y="1005840"/>
          <a:ext cx="10740136" cy="4659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7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Báo cáo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</a:t>
                      </a:r>
                      <a:r>
                        <a:rPr lang="vi-VN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trên tầng </a:t>
                      </a:r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BC3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FCT_COLLATERAL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FCT_WORKSTEP_EVENT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DIM_COLLATERAL_TYPE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DIM_DECISION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DIM_USER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DIM_WORKSTEP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BC4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FCT_WORKSTEP_EVENT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DIM_DATE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DIM_DECISION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DIM_USER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DIM_WORKSTEP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8F2BED-C96E-C289-60EC-54445F16D43F}"/>
              </a:ext>
            </a:extLst>
          </p:cNvPr>
          <p:cNvSpPr txBox="1"/>
          <p:nvPr/>
        </p:nvSpPr>
        <p:spPr>
          <a:xfrm>
            <a:off x="522732" y="559564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5.3. Báo cáo sử dụng Datamart</a:t>
            </a:r>
          </a:p>
        </p:txBody>
      </p:sp>
    </p:spTree>
    <p:extLst>
      <p:ext uri="{BB962C8B-B14F-4D97-AF65-F5344CB8AC3E}">
        <p14:creationId xmlns:p14="http://schemas.microsoft.com/office/powerpoint/2010/main" val="40023424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38857"/>
              </p:ext>
            </p:extLst>
          </p:nvPr>
        </p:nvGraphicFramePr>
        <p:xfrm>
          <a:off x="863600" y="1005840"/>
          <a:ext cx="10740136" cy="413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25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7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Báo cáo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trên tầng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BC5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FCT_SLA_DAILY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FCT_SUB_PRODUCT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DIM_APPROVAL_GROUP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DIM_CHANGE_TYPE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DIM_PRODUCT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DIM_WORKSTEP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BC6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FCT_DEVIATION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511B241-C968-06FF-C831-D408F19C332E}"/>
              </a:ext>
            </a:extLst>
          </p:cNvPr>
          <p:cNvSpPr txBox="1"/>
          <p:nvPr/>
        </p:nvSpPr>
        <p:spPr>
          <a:xfrm>
            <a:off x="522732" y="559564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5.3. Báo cáo sử dụng Datamart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7DCC-6FE6-6F03-F82E-D085868D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5D2A6B-6639-B173-3239-775F8318F5BF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2F1F2D-9987-8E55-EF86-A5233F8FE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647901"/>
              </p:ext>
            </p:extLst>
          </p:nvPr>
        </p:nvGraphicFramePr>
        <p:xfrm>
          <a:off x="876300" y="1005840"/>
          <a:ext cx="10727437" cy="441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Báo cáo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trên tầng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BC7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FCT_EXCEPTION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DIM_DECISION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DIM_EXCEPTION_REASON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DIM_USER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DIM_WORKSTEP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241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BC8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FCT_WORKSTEP_EVENT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DIM_DECISION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DIM_USER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DIM_WORKSTEP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E9B30DF-8CEB-DD47-1648-06B52C98463F}"/>
              </a:ext>
            </a:extLst>
          </p:cNvPr>
          <p:cNvSpPr txBox="1"/>
          <p:nvPr/>
        </p:nvSpPr>
        <p:spPr>
          <a:xfrm>
            <a:off x="522732" y="559564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5.3. Báo cáo sử dụng Datamart</a:t>
            </a:r>
          </a:p>
        </p:txBody>
      </p:sp>
    </p:spTree>
    <p:extLst>
      <p:ext uri="{BB962C8B-B14F-4D97-AF65-F5344CB8AC3E}">
        <p14:creationId xmlns:p14="http://schemas.microsoft.com/office/powerpoint/2010/main" val="23999618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666052"/>
              </p:ext>
            </p:extLst>
          </p:nvPr>
        </p:nvGraphicFramePr>
        <p:xfrm>
          <a:off x="876300" y="1005840"/>
          <a:ext cx="10727437" cy="5306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030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Báo cáo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trên tầng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30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BC9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FCT_APPLICATION_MILESTONE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FCT_DEVIATION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FCT_KPI_APPLICATION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FCT_KPI_USER_YEAR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FCT_KPI_YTD_DAILY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FCT_SLA_DAILY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FCT_WORKSTEP_EVENT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DIM_APPROVAL_GROUP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DIM_DATE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DIM_DECISION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DIM_ORG_UNIT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DIM_PRODUCT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DIM_USER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DIM_WORKSTEP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59BDAD1-1B3E-12B1-2E83-F68750A6D71D}"/>
              </a:ext>
            </a:extLst>
          </p:cNvPr>
          <p:cNvSpPr txBox="1"/>
          <p:nvPr/>
        </p:nvSpPr>
        <p:spPr>
          <a:xfrm>
            <a:off x="522732" y="559564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5.3. Báo cáo sử dụng Datamart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EF14A-70E9-A719-A6FE-B766FB6AC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F04D58-384D-C551-1126-217F06F4E63B}"/>
              </a:ext>
            </a:extLst>
          </p:cNvPr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5. Ý TƯỞNG THIẾT KẾ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D6C20C-719A-E131-078F-00F23CA20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967349"/>
              </p:ext>
            </p:extLst>
          </p:nvPr>
        </p:nvGraphicFramePr>
        <p:xfrm>
          <a:off x="876300" y="1005840"/>
          <a:ext cx="10727437" cy="3909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6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030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Báo cáo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FFFFFF"/>
                          </a:solidFill>
                          <a:latin typeface="Palatino Linotype"/>
                        </a:rPr>
                        <a:t>Bảng trên tầng PDTD_DTM</a:t>
                      </a:r>
                    </a:p>
                  </a:txBody>
                  <a:tcPr anchor="ctr">
                    <a:solidFill>
                      <a:srgbClr val="5891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30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BC10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FCT_DISBURSEMENT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DIM_CUSTOMER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DIM_ORG_UNIT</a:t>
                      </a:r>
                    </a:p>
                  </a:txBody>
                  <a:tcPr marT="50800" marB="50800">
                    <a:solidFill>
                      <a:srgbClr val="F2F6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30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BC11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FCT_DISBURSEMENT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DIM_APPLICATION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DIM_CUSTOMER</a:t>
                      </a:r>
                    </a:p>
                    <a:p>
                      <a:r>
                        <a:rPr sz="1600">
                          <a:solidFill>
                            <a:srgbClr val="333333"/>
                          </a:solidFill>
                          <a:latin typeface="Palatino Linotype"/>
                        </a:rPr>
                        <a:t>DIM_ORG_UNIT</a:t>
                      </a:r>
                    </a:p>
                  </a:txBody>
                  <a:tcPr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4B20FEF-4904-8209-F460-3A777B63D679}"/>
              </a:ext>
            </a:extLst>
          </p:cNvPr>
          <p:cNvSpPr txBox="1"/>
          <p:nvPr/>
        </p:nvSpPr>
        <p:spPr>
          <a:xfrm>
            <a:off x="522732" y="559564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5.3. Báo cáo sử dụng Datamart</a:t>
            </a:r>
          </a:p>
        </p:txBody>
      </p:sp>
    </p:spTree>
    <p:extLst>
      <p:ext uri="{BB962C8B-B14F-4D97-AF65-F5344CB8AC3E}">
        <p14:creationId xmlns:p14="http://schemas.microsoft.com/office/powerpoint/2010/main" val="1433987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146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8911F"/>
                </a:solidFill>
                <a:latin typeface="Palatino Linotype"/>
              </a:rPr>
              <a:t>6. THIẾT KẾ DATABASE CHI TIẾT TỪNG BẢNG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46200" y="1303020"/>
            <a:ext cx="10257536" cy="15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b="0">
                <a:solidFill>
                  <a:srgbClr val="333333"/>
                </a:solidFill>
                <a:latin typeface="Palatino Linotype"/>
              </a:rPr>
              <a:t>Diagram SB_DWH: </a:t>
            </a:r>
            <a:r>
              <a:rPr sz="2000" b="0" i="1" u="sng">
                <a:solidFill>
                  <a:schemeClr val="accent1">
                    <a:lumMod val="50000"/>
                  </a:schemeClr>
                </a:solidFill>
                <a:latin typeface="Palatino Linotype"/>
              </a:rPr>
              <a:t>https://dbdiagram.io/d/SB_PDTD_DWH-6a9e8e4c50ad2c46dc5c705f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b="0">
                <a:solidFill>
                  <a:srgbClr val="333333"/>
                </a:solidFill>
                <a:latin typeface="Palatino Linotype"/>
              </a:rPr>
              <a:t>Diagram PDTD_DTM: </a:t>
            </a:r>
            <a:r>
              <a:rPr sz="2000" b="0" i="1" u="sng">
                <a:solidFill>
                  <a:schemeClr val="accent1">
                    <a:lumMod val="50000"/>
                  </a:schemeClr>
                </a:solidFill>
                <a:latin typeface="Palatino Linotype"/>
              </a:rPr>
              <a:t>https://dbdiagram.io/d/SB_PDTD_DTM-6a9e68565450bea1be086290</a:t>
            </a:r>
            <a:endParaRPr lang="vi-VN" sz="2000" b="0" i="1" u="sng">
              <a:solidFill>
                <a:schemeClr val="accent1">
                  <a:lumMod val="50000"/>
                </a:schemeClr>
              </a:solidFill>
              <a:latin typeface="Palatino Linotype"/>
            </a:endParaRP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en-VN">
                <a:latin typeface="Palatino Linotype"/>
              </a:rPr>
              <a:t>Tài liệu thiết kế Database: </a:t>
            </a:r>
            <a:r>
              <a:rPr lang="en-VN" sz="2000" i="1">
                <a:solidFill>
                  <a:schemeClr val="accent1">
                    <a:lumMod val="50000"/>
                  </a:schemeClr>
                </a:solidFill>
                <a:latin typeface="Palatino Linotype" panose="0204050205050503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Design_Database_PDTD_DTM_v1.0_20260908.docx</a:t>
            </a:r>
            <a:endParaRPr lang="en-VN" sz="2000" i="1">
              <a:solidFill>
                <a:schemeClr val="accent1">
                  <a:lumMod val="50000"/>
                </a:schemeClr>
              </a:solidFill>
              <a:latin typeface="Palatino Linotype" panose="020405020505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365171-67E4-0B27-F02D-CFBFDFFFDA9B}"/>
              </a:ext>
            </a:extLst>
          </p:cNvPr>
          <p:cNvSpPr txBox="1"/>
          <p:nvPr/>
        </p:nvSpPr>
        <p:spPr>
          <a:xfrm>
            <a:off x="522732" y="762764"/>
            <a:ext cx="1114653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vi-VN" sz="2300" b="1">
                <a:solidFill>
                  <a:srgbClr val="333333"/>
                </a:solidFill>
                <a:latin typeface="Palatino Linotype"/>
              </a:rPr>
              <a:t>6. Tổng quan mô hình - ERD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4973DB7-3B8C-6008-DC1B-14B4ECB9A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456" y="3150911"/>
            <a:ext cx="8447088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rgbClr val="000099"/>
                </a:solidFill>
                <a:latin typeface="Palatino Linotype" panose="02040502050505030304" pitchFamily="18" charset="0"/>
              </a:rPr>
              <a:t>XIN TRÂN TRỌNG CẢM ƠN!</a:t>
            </a:r>
            <a:endParaRPr lang="en-US" sz="3200" b="1" noProof="1">
              <a:solidFill>
                <a:srgbClr val="000099"/>
              </a:solidFill>
              <a:latin typeface="Palatino Linotype" panose="0204050205050503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547C79AA-5280-4A6F-A1EB-F07CC927E637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8914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5" id="{292F2F9E-6D47-47A6-A300-5C5A93DCFF8D}" vid="{F434866E-C160-45C2-B384-42A2F41D682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Mau Slide</Template>
  <TotalTime>40782</TotalTime>
  <Words>4045</Words>
  <Application>Microsoft Macintosh PowerPoint</Application>
  <PresentationFormat>Widescreen</PresentationFormat>
  <Paragraphs>467</Paragraphs>
  <Slides>31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Palatino Linotype</vt:lpstr>
      <vt:lpstr>Wingdings</vt:lpstr>
      <vt:lpstr>Theme5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TIENPQ</dc:creator>
  <dc:description>PresentationLoad.com</dc:description>
  <cp:lastModifiedBy>Chien Nguyen - FSS HN</cp:lastModifiedBy>
  <cp:revision>2520</cp:revision>
  <cp:lastPrinted>2013-03-22T04:22:41Z</cp:lastPrinted>
  <dcterms:created xsi:type="dcterms:W3CDTF">2007-11-27T23:54:21Z</dcterms:created>
  <dcterms:modified xsi:type="dcterms:W3CDTF">2026-09-10T15:55:25Z</dcterms:modified>
</cp:coreProperties>
</file>